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Sales by Sector ($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Residential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31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</c:v>
                </c:pt>
                <c:pt idx="1">
                  <c:v>158</c:v>
                </c:pt>
                <c:pt idx="2">
                  <c:v>209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Commercial</c:v>
                </c:pt>
              </c:strCache>
            </c:strRef>
          </c:tx>
          <c:spPr>
            <a:solidFill>
              <a:srgbClr val="E9A0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31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167</c:v>
                </c:pt>
                <c:pt idx="1">
                  <c:v>219</c:v>
                </c:pt>
                <c:pt idx="2">
                  <c:v>282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Land</c:v>
                </c:pt>
              </c:strCache>
            </c:strRef>
          </c:tx>
          <c:spPr>
            <a:solidFill>
              <a:srgbClr val="4E8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31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95</c:v>
                </c:pt>
                <c:pt idx="1">
                  <c:v>132</c:v>
                </c:pt>
                <c:pt idx="2">
                  <c:v>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A31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1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majorGridlines>
          <c:spPr>
            <a:ln w="12700" cap="flat">
              <a:solidFill>
                <a:srgbClr val="E2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A314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6" Type="http://schemas.microsoft.com/office/2007/relationships/diagramDrawing" Target="drawing1.xml"/></Relationships>
</file>

<file path=ppt/diagrams/colors1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urn:microsoft.com/office/officeart/2005/8/colors/accent1_2">
  <dgm:title val="Colorful Range - Accent Colors 1"/>
  <dgm:desc val=""/>
  <dgm:catLst>
    <dgm:cat type="accent1" pri="11200"/>
  </dgm:catLst>
  <dgm:styleLbl name="node0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node1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alignNode1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lnNode1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fgShp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bgShp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sibTrans2D1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  <dgm:styleLbl name="parChTrans2D1">
    <dgm:fillClrLst meth="cycle">
      <a:srgbClr val="1E2761"/>
      <a:srgbClr val="2F3C7E"/>
    </dgm:fillClrLst>
    <dgm:linClrLst meth="repeat">
      <a:srgbClr val="FFFFFF"/>
    </dgm:linClrLst>
    <dgm:effectClrLst/>
    <dgm:txLinClrLst/>
    <dgm:txFillClrLst meth="repeat">
      <a:srgbClr val="FFFFFF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2FCE09FC-E36B-484B-AB39-89C5BC1222F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F90A98-D72B-4A40-B8FD-C0ECA706002A}">
      <dgm:prSet phldrT="[Text]"/>
      <dgm:spPr/>
      <dgm:t>
        <a:bodyPr/>
        <a:lstStyle/>
        <a:p>
          <a:r>
            <a:rPr lang="en-US" sz="1100" b="1" dirty="0"/>
            <a:t>Apply Online</a:t>
          </a:r>
        </a:p>
        <a:p>
          <a:r>
            <a:rPr lang="en-US" sz="800" dirty="0"/>
            <a:t>Submit your resume through our campus portal.</a:t>
          </a:r>
        </a:p>
      </dgm:t>
    </dgm:pt>
    <dgm:pt modelId="{4976DD90-93D1-46E6-9B67-E9B2E4A77C56}" type="parTrans" cxnId="{6AF90A98-D72B-4A40-B8FD-C0ECA706002A}">
      <dgm:prSet/>
      <dgm:spPr/>
      <dgm:t>
        <a:bodyPr/>
        <a:lstStyle/>
        <a:p>
          <a:endParaRPr lang="en-US"/>
        </a:p>
      </dgm:t>
    </dgm:pt>
    <dgm:pt modelId="{38617DBC-0725-4BA3-9056-DA3C89CD9479}" type="sibTrans" cxnId="{6AF90A98-D72B-4A40-B8FD-C0ECA706002A}">
      <dgm:prSet/>
      <dgm:spPr/>
      <dgm:t>
        <a:bodyPr/>
        <a:lstStyle/>
        <a:p>
          <a:endParaRPr lang="en-US"/>
        </a:p>
      </dgm:t>
    </dgm:pt>
    <dgm:pt modelId="{D406DB6D-AC4C-4C94-BE1B-D366280FBFB7}">
      <dgm:prSet phldrT="[Text]"/>
      <dgm:spPr/>
      <dgm:t>
        <a:bodyPr/>
        <a:lstStyle/>
        <a:p>
          <a:r>
            <a:rPr lang="en-US" sz="1100" b="1" dirty="0"/>
            <a:t>Campus Interview</a:t>
          </a:r>
        </a:p>
        <a:p>
          <a:r>
            <a:rPr lang="en-US" sz="800" dirty="0"/>
            <a:t>Meet our recruiters when we visit your school.</a:t>
          </a:r>
        </a:p>
      </dgm:t>
    </dgm:pt>
    <dgm:pt modelId="{6184F8DF-6629-4882-82DF-D80CAF2A22E4}" type="parTrans" cxnId="{D406DB6D-AC4C-4C94-BE1B-D366280FBFB7}">
      <dgm:prSet/>
      <dgm:spPr/>
      <dgm:t>
        <a:bodyPr/>
        <a:lstStyle/>
        <a:p>
          <a:endParaRPr lang="en-US"/>
        </a:p>
      </dgm:t>
    </dgm:pt>
    <dgm:pt modelId="{E9F387C7-98A9-4397-9CE1-E7E7750BAD23}" type="sibTrans" cxnId="{D406DB6D-AC4C-4C94-BE1B-D366280FBFB7}">
      <dgm:prSet/>
      <dgm:spPr/>
      <dgm:t>
        <a:bodyPr/>
        <a:lstStyle/>
        <a:p>
          <a:endParaRPr lang="en-US"/>
        </a:p>
      </dgm:t>
    </dgm:pt>
    <dgm:pt modelId="{71FC183D-D8FE-4474-9D9D-390BD3224E22}">
      <dgm:prSet phldrT="[Text]"/>
      <dgm:spPr/>
      <dgm:t>
        <a:bodyPr/>
        <a:lstStyle/>
        <a:p>
          <a:r>
            <a:rPr lang="en-US" sz="1100" b="1" dirty="0"/>
            <a:t>Office Visit</a:t>
          </a:r>
        </a:p>
        <a:p>
          <a:r>
            <a:rPr lang="en-US" sz="800" dirty="0"/>
            <a:t>Tour the new Austin office and meet the team.</a:t>
          </a:r>
        </a:p>
      </dgm:t>
    </dgm:pt>
    <dgm:pt modelId="{20019990-E1CE-48AC-A38B-508CEE505929}" type="parTrans" cxnId="{71FC183D-D8FE-4474-9D9D-390BD3224E22}">
      <dgm:prSet/>
      <dgm:spPr/>
      <dgm:t>
        <a:bodyPr/>
        <a:lstStyle/>
        <a:p>
          <a:endParaRPr lang="en-US"/>
        </a:p>
      </dgm:t>
    </dgm:pt>
    <dgm:pt modelId="{4D74069B-C687-402A-AD62-3E180D9567BA}" type="sibTrans" cxnId="{71FC183D-D8FE-4474-9D9D-390BD3224E22}">
      <dgm:prSet/>
      <dgm:spPr/>
      <dgm:t>
        <a:bodyPr/>
        <a:lstStyle/>
        <a:p>
          <a:endParaRPr lang="en-US"/>
        </a:p>
      </dgm:t>
    </dgm:pt>
    <dgm:pt modelId="{2AC4E0FA-3D5F-441B-8D1D-7B8601109263}">
      <dgm:prSet phldrT="[Text]"/>
      <dgm:spPr/>
      <dgm:t>
        <a:bodyPr/>
        <a:lstStyle/>
        <a:p>
          <a:r>
            <a:rPr lang="en-US" sz="1100" b="1" dirty="0"/>
            <a:t>Offer</a:t>
          </a:r>
        </a:p>
        <a:p>
          <a:r>
            <a:rPr lang="en-US" sz="800" dirty="0"/>
            <a:t>Receive your written offer and start date.</a:t>
          </a:r>
        </a:p>
      </dgm:t>
    </dgm:pt>
    <dgm:pt modelId="{3E18F56F-9A3F-4523-986A-CF330EF61ED6}" type="parTrans" cxnId="{2AC4E0FA-3D5F-441B-8D1D-7B8601109263}">
      <dgm:prSet/>
      <dgm:spPr/>
      <dgm:t>
        <a:bodyPr/>
        <a:lstStyle/>
        <a:p>
          <a:endParaRPr lang="en-US"/>
        </a:p>
      </dgm:t>
    </dgm:pt>
    <dgm:pt modelId="{D21EFD8C-7979-4C0C-B6FB-EF7ADC63EE77}" type="sibTrans" cxnId="{2AC4E0FA-3D5F-441B-8D1D-7B8601109263}">
      <dgm:prSet/>
      <dgm:spPr/>
      <dgm:t>
        <a:bodyPr/>
        <a:lstStyle/>
        <a:p>
          <a:endParaRPr lang="en-US"/>
        </a:p>
      </dgm:t>
    </dgm:pt>
    <dgm:pt modelId="{D7D0B3B8-7FC0-41BF-9D79-89EAB519DD52}">
      <dgm:prSet phldrT="[Text]"/>
      <dgm:spPr/>
      <dgm:t>
        <a:bodyPr/>
        <a:lstStyle/>
        <a:p>
          <a:r>
            <a:rPr lang="en-US" sz="1100" b="1" dirty="0"/>
            <a:t>Day One in Austin</a:t>
          </a:r>
        </a:p>
        <a:p>
          <a:r>
            <a:rPr lang="en-US" sz="800" dirty="0"/>
            <a:t>Onboarding, mentoring, and your first project.</a:t>
          </a:r>
        </a:p>
      </dgm:t>
    </dgm:pt>
    <dgm:pt modelId="{C767FF48-3524-453D-9185-DF2065A43039}" type="parTrans" cxnId="{D7D0B3B8-7FC0-41BF-9D79-89EAB519DD52}">
      <dgm:prSet/>
      <dgm:spPr/>
      <dgm:t>
        <a:bodyPr/>
        <a:lstStyle/>
        <a:p>
          <a:endParaRPr lang="en-US"/>
        </a:p>
      </dgm:t>
    </dgm:pt>
    <dgm:pt modelId="{00BE7C4B-7531-414B-93B1-A49EDA9294E5}" type="sibTrans" cxnId="{D7D0B3B8-7FC0-41BF-9D79-89EAB519DD52}">
      <dgm:prSet/>
      <dgm:spPr/>
      <dgm:t>
        <a:bodyPr/>
        <a:lstStyle/>
        <a:p>
          <a:endParaRPr lang="en-US"/>
        </a:p>
      </dgm:t>
    </dgm:pt>
    <dgm:pt modelId="{7C3E2770-185F-479D-9EEE-9DF3A26D89E7}" type="pres">
      <dgm:prSet presAssocID="{2FCE09FC-E36B-484B-AB39-89C5BC1222F5}" presName="diagram" presStyleCnt="0">
        <dgm:presLayoutVars>
          <dgm:dir/>
          <dgm:animLvl val="lvl"/>
          <dgm:resizeHandles val="exact"/>
        </dgm:presLayoutVars>
      </dgm:prSet>
      <dgm:spPr/>
    </dgm:pt>
    <dgm:pt modelId="{5377C274-09F7-4B10-9839-00E1A1AD063D}" type="pres">
      <dgm:prSet presAssocID="{6AF90A98-D72B-4A40-B8FD-C0ECA706002A}" presName="node" presStyleLbl="node1" presStyleIdx="0" presStyleCnt="5">
        <dgm:presLayoutVars>
          <dgm:bulletEnabled val="1"/>
        </dgm:presLayoutVars>
      </dgm:prSet>
      <dgm:spPr/>
    </dgm:pt>
    <dgm:pt modelId="{84531294-7D2D-4995-9D0C-A3FBACFD5921}" type="pres">
      <dgm:prSet presAssocID="{D406DB6D-AC4C-4C94-BE1B-D366280FBFB7}" presName="node" presStyleLbl="node1" presStyleIdx="1" presStyleCnt="5">
        <dgm:presLayoutVars>
          <dgm:bulletEnabled val="1"/>
        </dgm:presLayoutVars>
      </dgm:prSet>
      <dgm:spPr/>
    </dgm:pt>
    <dgm:pt modelId="{3468F3FF-4A22-4A56-83BB-EA0858EE860E}" type="pres">
      <dgm:prSet presAssocID="{71FC183D-D8FE-4474-9D9D-390BD3224E22}" presName="node" presStyleLbl="node1" presStyleIdx="2" presStyleCnt="5">
        <dgm:presLayoutVars>
          <dgm:bulletEnabled val="1"/>
        </dgm:presLayoutVars>
      </dgm:prSet>
      <dgm:spPr/>
    </dgm:pt>
    <dgm:pt modelId="{E80FC6B0-813E-4C45-A080-5369550B93BB}" type="pres">
      <dgm:prSet presAssocID="{2AC4E0FA-3D5F-441B-8D1D-7B8601109263}" presName="node" presStyleLbl="node1" presStyleIdx="3" presStyleCnt="5">
        <dgm:presLayoutVars>
          <dgm:bulletEnabled val="1"/>
        </dgm:presLayoutVars>
      </dgm:prSet>
      <dgm:spPr/>
    </dgm:pt>
    <dgm:pt modelId="{85B3BF96-9D05-4A43-8B3C-DB9082BF0950}" type="pres">
      <dgm:prSet presAssocID="{D7D0B3B8-7FC0-41BF-9D79-89EAB519DD52}" presName="node" presStyleLbl="node1" presStyleIdx="4" presStyleCnt="5">
        <dgm:presLayoutVars>
          <dgm:bulletEnabled val="1"/>
        </dgm:presLayoutVars>
      </dgm:prSet>
      <dgm:spPr/>
    </dgm:pt>
  </dgm:ptLst>
  <dgm:cxnLst>
    <dgm:cxn modelId="{53D1AECF-32A5-4461-9D5D-BAB426FF74C0}" srcId="{2FCE09FC-E36B-484B-AB39-89C5BC1222F5}" destId="{6AF90A98-D72B-4A40-B8FD-C0ECA706002A}" srcOrd="0" destOrd="0" parTransId="{4976DD90-93D1-46E6-9B67-E9B2E4A77C56}" sibTransId="{38617DBC-0725-4BA3-9056-DA3C89CD9479}"/>
    <dgm:cxn modelId="{630B83D7-43C9-4E2E-AA33-DBDD5C79B8AA}" srcId="{2FCE09FC-E36B-484B-AB39-89C5BC1222F5}" destId="{D406DB6D-AC4C-4C94-BE1B-D366280FBFB7}" srcOrd="1" destOrd="0" parTransId="{6184F8DF-6629-4882-82DF-D80CAF2A22E4}" sibTransId="{E9F387C7-98A9-4397-9CE1-E7E7750BAD23}"/>
    <dgm:cxn modelId="{C52BB99F-C980-4331-ABC4-A1BC6E879419}" srcId="{2FCE09FC-E36B-484B-AB39-89C5BC1222F5}" destId="{71FC183D-D8FE-4474-9D9D-390BD3224E22}" srcOrd="2" destOrd="0" parTransId="{20019990-E1CE-48AC-A38B-508CEE505929}" sibTransId="{4D74069B-C687-402A-AD62-3E180D9567BA}"/>
    <dgm:cxn modelId="{BDFD2F85-C5D0-4287-BA63-A33E9080218C}" srcId="{2FCE09FC-E36B-484B-AB39-89C5BC1222F5}" destId="{2AC4E0FA-3D5F-441B-8D1D-7B8601109263}" srcOrd="3" destOrd="0" parTransId="{3E18F56F-9A3F-4523-986A-CF330EF61ED6}" sibTransId="{D21EFD8C-7979-4C0C-B6FB-EF7ADC63EE77}"/>
    <dgm:cxn modelId="{EE5D3E36-6F57-4C0A-9794-FF002E212CD2}" srcId="{2FCE09FC-E36B-484B-AB39-89C5BC1222F5}" destId="{D7D0B3B8-7FC0-41BF-9D79-89EAB519DD52}" srcOrd="4" destOrd="0" parTransId="{C767FF48-3524-453D-9185-DF2065A43039}" sibTransId="{00BE7C4B-7531-414B-93B1-A49EDA9294E5}"/>
    <dgm:cxn modelId="{E18EAC4A-83AA-44C0-BB9F-F6CE9957BABD}" type="presOf" srcId="{6AF90A98-D72B-4A40-B8FD-C0ECA706002A}" destId="{5377C274-09F7-4B10-9839-00E1A1AD063D}" srcOrd="0" destOrd="0" presId="nodes"/>
    <dgm:cxn modelId="{E322792B-DD7B-4A30-B15E-5A392E68950E}" type="presParOf" srcId="{7C3E2770-185F-479D-9EEE-9DF3A26D89E7}" destId="{5377C274-09F7-4B10-9839-00E1A1AD063D}" srcOrd="0" destOrd="0" presId="nodes"/>
    <dgm:cxn modelId="{DDF86746-7985-4291-9ACA-ECB3670FE889}" type="presOf" srcId="{D406DB6D-AC4C-4C94-BE1B-D366280FBFB7}" destId="{84531294-7D2D-4995-9D0C-A3FBACFD5921}" srcOrd="0" destOrd="0" presId="nodes"/>
    <dgm:cxn modelId="{B69867AA-E931-488E-B267-BEAE6CEB3272}" type="presParOf" srcId="{7C3E2770-185F-479D-9EEE-9DF3A26D89E7}" destId="{84531294-7D2D-4995-9D0C-A3FBACFD5921}" srcOrd="1" destOrd="0" presId="nodes"/>
    <dgm:cxn modelId="{E8A0016F-1BE4-4647-B098-58BADE104673}" type="presOf" srcId="{71FC183D-D8FE-4474-9D9D-390BD3224E22}" destId="{3468F3FF-4A22-4A56-83BB-EA0858EE860E}" srcOrd="0" destOrd="0" presId="nodes"/>
    <dgm:cxn modelId="{7C72E3C1-42D0-4768-AB1F-74A0CBBB9C17}" type="presParOf" srcId="{7C3E2770-185F-479D-9EEE-9DF3A26D89E7}" destId="{3468F3FF-4A22-4A56-83BB-EA0858EE860E}" srcOrd="2" destOrd="0" presId="nodes"/>
    <dgm:cxn modelId="{AB8BEEE0-3CA6-4B0E-8584-6BBA7A7401B4}" type="presOf" srcId="{2AC4E0FA-3D5F-441B-8D1D-7B8601109263}" destId="{E80FC6B0-813E-4C45-A080-5369550B93BB}" srcOrd="0" destOrd="0" presId="nodes"/>
    <dgm:cxn modelId="{58099A17-B363-4959-B7FB-3487E3CD1AC3}" type="presParOf" srcId="{7C3E2770-185F-479D-9EEE-9DF3A26D89E7}" destId="{E80FC6B0-813E-4C45-A080-5369550B93BB}" srcOrd="3" destOrd="0" presId="nodes"/>
    <dgm:cxn modelId="{AAF351C1-89D3-4187-B872-33A4C7509FD4}" type="presOf" srcId="{D7D0B3B8-7FC0-41BF-9D79-89EAB519DD52}" destId="{85B3BF96-9D05-4A43-8B3C-DB9082BF0950}" srcOrd="0" destOrd="0" presId="nodes"/>
    <dgm:cxn modelId="{BE66843C-75E2-47DB-A734-FA2176164751}" type="presParOf" srcId="{7C3E2770-185F-479D-9EEE-9DF3A26D89E7}" destId="{85B3BF96-9D05-4A43-8B3C-DB9082BF0950}" srcOrd="4" destOrd="0" presId="nodes"/>
    <dgm:cxn modelId="{9A4A0986-BED0-465F-B5CD-FD47D4EBEC88}" type="presOf" srcId="{2FCE09FC-E36B-484B-AB39-89C5BC1222F5}" destId="{7C3E2770-185F-479D-9EEE-9DF3A26D89E7}" srcOrd="0" destOrd="0" presId=""/>
  </dgm:cxnLst>
  <dgm:bg/>
  <dgm:whole/>
  <dgm:extLst>
    <a:ext uri="{FF2A5FF4-1AC4-4B0C-9E5A-0C2E1E3B1D2A}">
      <dsp:dataModelExt xmlns:dsp="http://schemas.microsoft.com/office/drawing/2008/diagram" relId="rId6" minVer="12.0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7C274-09F7-4B10-9839-00E1A1AD063D}">
      <dsp:nvSpPr>
        <dsp:cNvPr id="0" name=""/>
        <dsp:cNvSpPr/>
      </dsp:nvSpPr>
      <dsp:spPr>
        <a:xfrm>
          <a:off x="0" y="233172"/>
          <a:ext cx="1059095" cy="1865376"/>
        </a:xfrm>
        <a:prstGeom prst="roundRect">
          <a:avLst>
            <a:gd name="adj" fmla="val 12000"/>
          </a:avLst>
        </a:prstGeom>
        <a:solidFill>
          <a:srgbClr val="1E2761"/>
        </a:solidFill>
        <a:ln w="19050">
          <a:solidFill>
            <a:srgbClr val="FFFFFF"/>
          </a:solidFill>
        </a:ln>
      </dsp:spPr>
      <dsp:txBody>
        <a:bodyPr lIns="45720" tIns="45720" rIns="45720" bIns="45720" anchor="ctr"/>
        <a:lstStyle/>
        <a:p>
          <a:pPr algn="ctr"/>
          <a:r>
            <a:rPr lang="en-US" sz="1000" b="1" kern="1200">
              <a:solidFill>
                <a:srgbClr val="FFFFFF"/>
              </a:solidFill>
              <a:latin typeface="Calibri"/>
            </a:rPr>
            <a:t>Apply Online</a:t>
          </a:r>
        </a:p>
        <a:p>
          <a:pPr algn="ctr"/>
          <a:r>
            <a:rPr lang="en-US" sz="800" kern="1200">
              <a:solidFill>
                <a:srgbClr val="FFFFFF"/>
              </a:solidFill>
              <a:latin typeface="Calibri"/>
            </a:rPr>
            <a:t>Submit your resume through our campus portal.</a:t>
          </a:r>
        </a:p>
      </dsp:txBody>
      <dsp:txXfrm>
        <a:off x="0" y="233172"/>
        <a:ext cx="1059095" cy="1865376"/>
      </dsp:txXfrm>
    </dsp:sp>
    <dsp:sp modelId="{84531294-7D2D-4995-9D0C-A3FBACFD5921}">
      <dsp:nvSpPr>
        <dsp:cNvPr id="0" name=""/>
        <dsp:cNvSpPr/>
      </dsp:nvSpPr>
      <dsp:spPr>
        <a:xfrm>
          <a:off x="1186836" y="233172"/>
          <a:ext cx="1059095" cy="1865376"/>
        </a:xfrm>
        <a:prstGeom prst="roundRect">
          <a:avLst>
            <a:gd name="adj" fmla="val 12000"/>
          </a:avLst>
        </a:prstGeom>
        <a:solidFill>
          <a:srgbClr val="2F3C7E"/>
        </a:solidFill>
        <a:ln w="19050">
          <a:solidFill>
            <a:srgbClr val="FFFFFF"/>
          </a:solidFill>
        </a:ln>
      </dsp:spPr>
      <dsp:txBody>
        <a:bodyPr lIns="45720" tIns="45720" rIns="45720" bIns="45720" anchor="ctr"/>
        <a:lstStyle/>
        <a:p>
          <a:pPr algn="ctr"/>
          <a:r>
            <a:rPr lang="en-US" sz="1000" b="1" kern="1200">
              <a:solidFill>
                <a:srgbClr val="FFFFFF"/>
              </a:solidFill>
              <a:latin typeface="Calibri"/>
            </a:rPr>
            <a:t>Campus Interview</a:t>
          </a:r>
        </a:p>
        <a:p>
          <a:pPr algn="ctr"/>
          <a:r>
            <a:rPr lang="en-US" sz="800" kern="1200">
              <a:solidFill>
                <a:srgbClr val="FFFFFF"/>
              </a:solidFill>
              <a:latin typeface="Calibri"/>
            </a:rPr>
            <a:t>Meet our recruiters when we visit your school.</a:t>
          </a:r>
        </a:p>
      </dsp:txBody>
      <dsp:txXfrm>
        <a:off x="1186836" y="233172"/>
        <a:ext cx="1059095" cy="1865376"/>
      </dsp:txXfrm>
    </dsp:sp>
    <dsp:sp modelId="{3468F3FF-4A22-4A56-83BB-EA0858EE860E}">
      <dsp:nvSpPr>
        <dsp:cNvPr id="0" name=""/>
        <dsp:cNvSpPr/>
      </dsp:nvSpPr>
      <dsp:spPr>
        <a:xfrm>
          <a:off x="2373672" y="233172"/>
          <a:ext cx="1059095" cy="1865376"/>
        </a:xfrm>
        <a:prstGeom prst="roundRect">
          <a:avLst>
            <a:gd name="adj" fmla="val 12000"/>
          </a:avLst>
        </a:prstGeom>
        <a:solidFill>
          <a:srgbClr val="1E2761"/>
        </a:solidFill>
        <a:ln w="19050">
          <a:solidFill>
            <a:srgbClr val="FFFFFF"/>
          </a:solidFill>
        </a:ln>
      </dsp:spPr>
      <dsp:txBody>
        <a:bodyPr lIns="45720" tIns="45720" rIns="45720" bIns="45720" anchor="ctr"/>
        <a:lstStyle/>
        <a:p>
          <a:pPr algn="ctr"/>
          <a:r>
            <a:rPr lang="en-US" sz="1000" b="1" kern="1200">
              <a:solidFill>
                <a:srgbClr val="FFFFFF"/>
              </a:solidFill>
              <a:latin typeface="Calibri"/>
            </a:rPr>
            <a:t>Office Visit</a:t>
          </a:r>
        </a:p>
        <a:p>
          <a:pPr algn="ctr"/>
          <a:r>
            <a:rPr lang="en-US" sz="800" kern="1200">
              <a:solidFill>
                <a:srgbClr val="FFFFFF"/>
              </a:solidFill>
              <a:latin typeface="Calibri"/>
            </a:rPr>
            <a:t>Tour the new Austin office and meet the team.</a:t>
          </a:r>
        </a:p>
      </dsp:txBody>
      <dsp:txXfrm>
        <a:off x="2373672" y="233172"/>
        <a:ext cx="1059095" cy="1865376"/>
      </dsp:txXfrm>
    </dsp:sp>
    <dsp:sp modelId="{E80FC6B0-813E-4C45-A080-5369550B93BB}">
      <dsp:nvSpPr>
        <dsp:cNvPr id="0" name=""/>
        <dsp:cNvSpPr/>
      </dsp:nvSpPr>
      <dsp:spPr>
        <a:xfrm>
          <a:off x="3560508" y="233172"/>
          <a:ext cx="1059095" cy="1865376"/>
        </a:xfrm>
        <a:prstGeom prst="roundRect">
          <a:avLst>
            <a:gd name="adj" fmla="val 12000"/>
          </a:avLst>
        </a:prstGeom>
        <a:solidFill>
          <a:srgbClr val="2F3C7E"/>
        </a:solidFill>
        <a:ln w="19050">
          <a:solidFill>
            <a:srgbClr val="FFFFFF"/>
          </a:solidFill>
        </a:ln>
      </dsp:spPr>
      <dsp:txBody>
        <a:bodyPr lIns="45720" tIns="45720" rIns="45720" bIns="45720" anchor="ctr"/>
        <a:lstStyle/>
        <a:p>
          <a:pPr algn="ctr"/>
          <a:r>
            <a:rPr lang="en-US" sz="1000" b="1" kern="1200">
              <a:solidFill>
                <a:srgbClr val="FFFFFF"/>
              </a:solidFill>
              <a:latin typeface="Calibri"/>
            </a:rPr>
            <a:t>Offer</a:t>
          </a:r>
        </a:p>
        <a:p>
          <a:pPr algn="ctr"/>
          <a:r>
            <a:rPr lang="en-US" sz="800" kern="1200">
              <a:solidFill>
                <a:srgbClr val="FFFFFF"/>
              </a:solidFill>
              <a:latin typeface="Calibri"/>
            </a:rPr>
            <a:t>Receive your written offer and start date.</a:t>
          </a:r>
        </a:p>
      </dsp:txBody>
      <dsp:txXfrm>
        <a:off x="3560508" y="233172"/>
        <a:ext cx="1059095" cy="1865376"/>
      </dsp:txXfrm>
    </dsp:sp>
    <dsp:sp modelId="{85B3BF96-9D05-4A43-8B3C-DB9082BF0950}">
      <dsp:nvSpPr>
        <dsp:cNvPr id="0" name=""/>
        <dsp:cNvSpPr/>
      </dsp:nvSpPr>
      <dsp:spPr>
        <a:xfrm>
          <a:off x="4747344" y="233172"/>
          <a:ext cx="1059095" cy="1865376"/>
        </a:xfrm>
        <a:prstGeom prst="roundRect">
          <a:avLst>
            <a:gd name="adj" fmla="val 12000"/>
          </a:avLst>
        </a:prstGeom>
        <a:solidFill>
          <a:srgbClr val="1E2761"/>
        </a:solidFill>
        <a:ln w="19050">
          <a:solidFill>
            <a:srgbClr val="FFFFFF"/>
          </a:solidFill>
        </a:ln>
      </dsp:spPr>
      <dsp:txBody>
        <a:bodyPr lIns="45720" tIns="45720" rIns="45720" bIns="45720" anchor="ctr"/>
        <a:lstStyle/>
        <a:p>
          <a:pPr algn="ctr"/>
          <a:r>
            <a:rPr lang="en-US" sz="1000" b="1" kern="1200">
              <a:solidFill>
                <a:srgbClr val="FFFFFF"/>
              </a:solidFill>
              <a:latin typeface="Calibri"/>
            </a:rPr>
            <a:t>Day One in Austin</a:t>
          </a:r>
        </a:p>
        <a:p>
          <a:pPr algn="ctr"/>
          <a:r>
            <a:rPr lang="en-US" sz="800" kern="1200">
              <a:solidFill>
                <a:srgbClr val="FFFFFF"/>
              </a:solidFill>
              <a:latin typeface="Calibri"/>
            </a:rPr>
            <a:t>Onboarding, mentoring, and your first project.</a:t>
          </a:r>
        </a:p>
      </dsp:txBody>
      <dsp:txXfrm>
        <a:off x="4747344" y="233172"/>
        <a:ext cx="1059095" cy="1865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list1">
  <dgm:title val="Basic Block List"/>
  <dgm:desc val="Used to show non-sequential or grouped blocks of information."/>
  <dgm:catLst>
    <dgm:cat type="list" pri="1000"/>
  </dgm:catLst>
  <dgm:layoutNode name="diagram">
    <dgm:varLst>
      <dgm:dir val="norm"/>
      <dgm:animLvl val="lvl"/>
      <dgm:resizeHandles val="exact"/>
    </dgm:varLst>
    <dgm:alg type="lin">
      <dgm:param type="linDir" val="fromL"/>
      <dgm:param type="nodeHorzAlign" val="ctr"/>
      <dgm:param type="nodeVertAlign" val="mid"/>
    </dgm:alg>
    <dgm:shape r:blip="">
      <dgm:adjLst/>
    </dgm:shape>
    <dgm:presOf/>
    <dgm:constrLst>
      <dgm:constr type="w" for="ch" ptType="node" op="equ"/>
      <dgm:constr type="h" for="ch" ptType="node" op="equ"/>
      <dgm:constr type="sibSp" refType="w" refFor="ch" refPtType="node" fact="0.08"/>
      <dgm:constr type="primFontSz" for="ch" ptType="node" op="equ" val="1100"/>
    </dgm:constrLst>
    <dgm:ruleLst/>
    <dgm:forEach name="nodes" axis="ch" ptType="node">
      <dgm:layoutNode name="node">
        <dgm:alg type="tx">
          <dgm:param type="parTxLTRAlign" val="ctr"/>
          <dgm:param type="txAnchorVertCh" val="mid"/>
        </dgm:alg>
        <dgm:shape type="roundRect" r:blip="">
          <dgm:adjLst/>
        </dgm:shape>
        <dgm:presOf axis="desOrSelf" ptType="node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xmlns:r="http://schemas.openxmlformats.org/officeDocument/2006/relationships" uniqueId="urn:microsoft.com/office/officeart/2005/8/quickStyle/simple1">
  <dgm:title val="Simple Fill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introduction. Nancy Chung, HR Director, is recruiting new graduates for the new Austin, Texas office of Select National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background, part 1: what Select National Properties does, our mission, and the property types in our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background, part 2: where we build, our reputation for quality, and our commitment to the environment and to local economic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as a clustered column chart. Every sector has grown each year; total sales rose from $387M in 2022 to $682M in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as a three-column, four-row table: position, description, and starting salary for each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embedded YouTube video here. To use a different clip: Insert &gt; Video &gt; Online Video, then paste the YouTube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SmartArt process graphic: Apply Online, Campus Interview, Office Visit, Offer, Day One in Austin. Close by inviting students to the recruiting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NP_DARK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4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NP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arget="https://www.youtube.com/embed/jNQXAC9IVRw" TargetMode="External" Type="http://schemas.openxmlformats.org/officeDocument/2006/relationships/video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NATIONAL PROPERTIES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41248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What's Next in Austin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for new college graduates at our new Austin, Texas office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999232"/>
            <a:ext cx="3977640" cy="914400"/>
          </a:xfrm>
          <a:prstGeom prst="roundRect">
            <a:avLst>
              <a:gd name="adj" fmla="val 12000"/>
            </a:avLst>
          </a:prstGeom>
          <a:solidFill>
            <a:srgbClr val="24306B"/>
          </a:solidFill>
          <a:ln w="19050">
            <a:solidFill>
              <a:srgbClr val="E9A03B"/>
            </a:solidFill>
            <a:prstDash val="solid"/>
          </a:ln>
          <a:effectLst>
            <a:outerShdw sx="100000" sy="100000" kx="0" ky="0" algn="bl" rotWithShape="0" blurRad="177800" dist="63500" dir="2700000">
              <a:srgbClr val="0B103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Nancy Chung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Director</a:t>
            </a:r>
            <a:endParaRPr lang="en-US" sz="1600" dirty="0"/>
          </a:p>
        </p:txBody>
      </p:sp>
      <p:pic>
        <p:nvPicPr>
          <p:cNvPr id="7" name="Image 0" descr="/tmp/claude-0/-home-user-padilla-ai/8ea8939f-36e7-5843-81d9-d5fe7ca1aad8/scratchpad/img/01-sky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3712" y="932688"/>
            <a:ext cx="4114800" cy="2286000"/>
          </a:xfrm>
          <a:prstGeom prst="rect">
            <a:avLst/>
          </a:prstGeom>
          <a:effectLst>
            <a:outerShdw sx="100000" sy="100000" kx="0" ky="0" algn="bl" rotWithShape="0" blurRad="228600" dist="88900" dir="2700000">
              <a:srgbClr val="0B1030">
                <a:alpha val="45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4553712" y="3310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Texas — our newest office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Recruiting  •  Fall 2026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914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diversified real estate company serving clients nationwide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384048" cy="384048"/>
          </a:xfrm>
          <a:prstGeom prst="ellipse">
            <a:avLst/>
          </a:prstGeom>
          <a:solidFill>
            <a:srgbClr val="E9A0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develop, build, manage, and acquire a wide variety of properties nationwide.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24942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128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lead the real estate development business through integrity, high ethical standards, and operational expertise.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090672"/>
            <a:ext cx="384048" cy="384048"/>
          </a:xfrm>
          <a:prstGeom prst="ellipse">
            <a:avLst/>
          </a:prstGeom>
          <a:solidFill>
            <a:srgbClr val="E9A0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5409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portfolio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malls, mixed-use town center developments, high-rise office buildings, and office parks.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895344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much more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buildings and warehouses, multifamily housing, educational facilities, and hospitals.</a:t>
            </a:r>
            <a:endParaRPr lang="en-US" sz="1350" dirty="0"/>
          </a:p>
        </p:txBody>
      </p:sp>
      <p:pic>
        <p:nvPicPr>
          <p:cNvPr id="16" name="Image 0" descr="/tmp/claude-0/-home-user-padilla-ai/8ea8939f-36e7-5843-81d9-d5fe7ca1aad8/scratchpad/img/02-portfo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71600"/>
            <a:ext cx="2834640" cy="2834640"/>
          </a:xfrm>
          <a:prstGeom prst="ellipse">
            <a:avLst/>
          </a:prstGeom>
          <a:effectLst>
            <a:outerShdw sx="100000" sy="100000" kx="0" ky="0" algn="bl" rotWithShape="0" blurRad="203200" dist="76200" dir="2700000">
              <a:srgbClr val="0B1030">
                <a:alpha val="28000"/>
              </a:srgbClr>
            </a:outerShdw>
          </a:effectLst>
        </p:spPr>
      </p:pic>
      <p:sp>
        <p:nvSpPr>
          <p:cNvPr id="17" name="Text 14"/>
          <p:cNvSpPr txBox="1"/>
          <p:nvPr/>
        </p:nvSpPr>
        <p:spPr>
          <a:xfrm>
            <a:off x="5440680" y="4315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Malls  •  Offices  •  Industrial  •  Housing  •  Hospitals</a:t>
            </a:r>
            <a:endParaRPr lang="en-US" sz="95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1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3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3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Build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hometown, our national footprint, and what we stand for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5020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203200" dist="76200" dir="2700000">
              <a:srgbClr val="0B1030">
                <a:alpha val="35000"/>
              </a:srgbClr>
            </a:outerShdw>
          </a:effectLst>
        </p:spPr>
      </p:sp>
      <p:pic>
        <p:nvPicPr>
          <p:cNvPr id="5" name="Image 0" descr="/tmp/claude-0/-home-user-padilla-ai/8ea8939f-36e7-5843-81d9-d5fe7ca1aad8/scratchpad/img/03-sustain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335024"/>
            <a:ext cx="3694176" cy="2322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387705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construction, built to last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54880" y="1298448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EAF0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19472" y="13350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Hometown roots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developments are located mainly in and around our hometown of Chicago.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202082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4F7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19472" y="2057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footprint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public buildings in our portfolio are located nationwide.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54880" y="274320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EAF0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19472" y="27797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Respected for quality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well respected for its focus on quality in everything we build.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54880" y="3465576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4F7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19472" y="35021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4E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community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committed to the environment and to the economic development of the areas where we operate.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42428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•  Ethics  •  Operational expertise</a:t>
            </a:r>
            <a:endParaRPr lang="en-US" sz="10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1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3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Growth by Sector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04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sales in millions of dollars, 2022 through 2024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170432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19088" y="1143000"/>
            <a:ext cx="2295144" cy="1655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/tmp/claude-0/-home-user-padilla-ai/8ea8939f-36e7-5843-81d9-d5fe7ca1aad8/scratchpad/img/04-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70432"/>
            <a:ext cx="2240280" cy="1600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46520" y="2926080"/>
            <a:ext cx="2240280" cy="96012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2700000">
              <a:srgbClr val="0B1030">
                <a:alpha val="2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446520" y="299923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$682M</a:t>
            </a:r>
            <a:endParaRPr lang="en-US" sz="2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in 2024</a:t>
            </a:r>
            <a:endParaRPr lang="en-US" sz="2500" dirty="0"/>
          </a:p>
        </p:txBody>
      </p:sp>
      <p:sp>
        <p:nvSpPr>
          <p:cNvPr id="9" name="Shape 5"/>
          <p:cNvSpPr/>
          <p:nvPr/>
        </p:nvSpPr>
        <p:spPr>
          <a:xfrm>
            <a:off x="6446520" y="4023360"/>
            <a:ext cx="2240280" cy="457200"/>
          </a:xfrm>
          <a:prstGeom prst="roundRect">
            <a:avLst>
              <a:gd name="adj" fmla="val 20000"/>
            </a:avLst>
          </a:prstGeom>
          <a:solidFill>
            <a:srgbClr val="EAF0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+76% growth since 2022</a:t>
            </a:r>
            <a:endParaRPr lang="en-US" sz="1200" dirty="0"/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1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3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3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Recruiting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04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professional opportunities for new college graduates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063240"/>
                <a:gridCol w="1143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 Engineer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knowledge of design, construction procedures, zoning and building codes, and building materials to render structural designs.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$79,340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Prepares and reviews facilities plans, construction contract bid documents, and specifications for projects. Monitors project progress and costs.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Performs professional accounting work, including auditing, analyzing, and verifying fiscal records and reports.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98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54496" y="1435608"/>
            <a:ext cx="2542032" cy="1664208"/>
          </a:xfrm>
          <a:prstGeom prst="roundRect">
            <a:avLst>
              <a:gd name="adj" fmla="val 4396"/>
            </a:avLst>
          </a:prstGeom>
          <a:solidFill>
            <a:srgbClr val="E9A0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tmp/claude-0/-home-user-padilla-ai/8ea8939f-36e7-5843-81d9-d5fe7ca1aad8/scratchpad/img/05-car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325880"/>
            <a:ext cx="2542032" cy="16642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44768" y="3200400"/>
            <a:ext cx="2542032" cy="1005840"/>
          </a:xfrm>
          <a:prstGeom prst="roundRect">
            <a:avLst>
              <a:gd name="adj" fmla="val 10909"/>
            </a:avLst>
          </a:prstGeom>
          <a:solidFill>
            <a:srgbClr val="E9A0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2700000">
              <a:srgbClr val="0B1030">
                <a:alpha val="2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199632" y="3273552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Interviewing on campus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résumé — we hire year-round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49884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shown are starting annual salaries for the Austin office.</a:t>
            </a:r>
            <a:endParaRPr lang="en-US" sz="1000" dirty="0"/>
          </a:p>
        </p:txBody>
      </p:sp>
    </p:spTree>
  </p:cSld>
  <p:clrMapOvr>
    <a:masterClrMapping/>
  </p:clrMapOvr>
  <p:transition spd="med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8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for Yourself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77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 in Slide Show view</a:t>
            </a:r>
            <a:endParaRPr lang="en-US" sz="1200" dirty="0"/>
          </a:p>
        </p:txBody>
      </p:sp>
      <p:pic>
        <p:nvPicPr>
          <p:cNvPr id="4" name="Online Video">
            <a:hlinkClick xmlns:r="http://schemas.openxmlformats.org/officeDocument/2006/relationships" r:id="" action="ppaction://media"/>
          </p:cNvPr>
          <p:cNvPicPr>
            <a:picLocks noGrp="1" noChangeAspect="1"/>
          </p:cNvPicPr>
          <p:nvPr>
            <a:videoFile xmlns:r="http://schemas.openxmlformats.org/officeDocument/2006/relationships" r:link="rId1"/>
            <p:extLst>
              <p:ext uri="{DAA4B4D4-6D71-4841-9C94-3DE7FCFB9230}">
                <p14:media xmlns:p14="http://schemas.microsoft.com/office/powerpoint/2010/main" xmlns:r="http://schemas.openxmlformats.org/officeDocument/2006/relationships" r:link="rId1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502920" y="1280160"/>
            <a:ext cx="5074920" cy="2852928"/>
          </a:xfrm>
          <a:prstGeom prst="rect">
            <a:avLst/>
          </a:prstGeom>
          <a:ln w="19050">
            <a:solidFill>
              <a:srgbClr val="CADCFC"/>
            </a:solidFill>
          </a:ln>
        </p:spPr>
      </p:pic>
      <p:pic>
        <p:nvPicPr>
          <p:cNvPr id="5" name="Image 0" descr="/tmp/claude-0/-home-user-padilla-ai/8ea8939f-36e7-5843-81d9-d5fe7ca1aad8/scratchpad/img/06-camp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5897880" y="1325880"/>
            <a:ext cx="2697480" cy="1929384"/>
          </a:xfrm>
          <a:prstGeom prst="rect">
            <a:avLst/>
          </a:prstGeom>
          <a:effectLst>
            <a:outerShdw sx="100000" sy="100000" kx="0" ky="0" algn="bl" rotWithShape="0" blurRad="203200" dist="76200" dir="2700000">
              <a:srgbClr val="0B1030">
                <a:alpha val="50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897880" y="3456432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campus to career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Austin team is built around new graduates who want responsibility early and mentoring along the way.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42245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embedded from YouTube</a:t>
            </a:r>
            <a:endParaRPr lang="en-US" sz="1000" dirty="0"/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Path to Joining 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04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your campus interview to your first Austin project</a:t>
            </a:r>
            <a:endParaRPr lang="en-US" sz="1200" dirty="0"/>
          </a:p>
        </p:txBody>
      </p:sp>
      <p:graphicFrame>
        <p:nvGraphicFramePr>
          <p:cNvPr id="4" name="Diagram 1"/>
          <p:cNvGraphicFramePr/>
          <p:nvPr/>
        </p:nvGraphicFramePr>
        <p:xfrm>
          <a:off x="457200" y="1234440"/>
          <a:ext cx="5806440" cy="2331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hape 3"/>
          <p:cNvSpPr/>
          <p:nvPr/>
        </p:nvSpPr>
        <p:spPr>
          <a:xfrm>
            <a:off x="6419088" y="1188720"/>
            <a:ext cx="2286000" cy="2286000"/>
          </a:xfrm>
          <a:prstGeom prst="ellipse">
            <a:avLst/>
          </a:prstGeom>
          <a:solidFill>
            <a:srgbClr val="E9A0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tmp/claude-0/-home-user-padilla-ai/8ea8939f-36e7-5843-81d9-d5fe7ca1aad8/scratchpad/img/07-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1280160"/>
            <a:ext cx="2103120" cy="210312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27648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you grow with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913632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4F7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005072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start?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by our table after this session and talk with Nancy Chung about the Austin office.</a:t>
            </a:r>
            <a:endParaRPr lang="en-US" sz="1350" dirty="0"/>
          </a:p>
        </p:txBody>
      </p:sp>
    </p:spTree>
  </p:cSld>
  <p:clrMapOvr>
    <a:masterClrMapping/>
  </p:clrMapOvr>
  <p:transition spd="med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8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1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elect National Properties">
  <a:themeElements>
    <a:clrScheme name="Select National Properties">
      <a:dk1>
        <a:sysClr val="windowText" lastClr="000000"/>
      </a:dk1>
      <a:lt1>
        <a:sysClr val="window" lastClr="FFFFFF"/>
      </a:lt1>
      <a:dk2>
        <a:srgbClr val="1E2761"/>
      </a:dk2>
      <a:lt2>
        <a:srgbClr val="EAF0FC"/>
      </a:lt2>
      <a:accent1>
        <a:srgbClr val="1E2761"/>
      </a:accent1>
      <a:accent2>
        <a:srgbClr val="E9A03B"/>
      </a:accent2>
      <a:accent3>
        <a:srgbClr val="2F3C7E"/>
      </a:accent3>
      <a:accent4>
        <a:srgbClr val="4E8A6B"/>
      </a:accent4>
      <a:accent5>
        <a:srgbClr val="CADCFC"/>
      </a:accent5>
      <a:accent6>
        <a:srgbClr val="C9812A"/>
      </a:accent6>
      <a:hlink>
        <a:srgbClr val="2F3C7E"/>
      </a:hlink>
      <a:folHlink>
        <a:srgbClr val="7B5EA7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Select National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Skills Test</dc:title>
  <dc:subject>Campus Recruiting — Austin, Texas</dc:subject>
  <dc:creator>Nancy Chung</dc:creator>
  <cp:lastModifiedBy>Nancy Chung</cp:lastModifiedBy>
  <cp:revision>1</cp:revision>
  <dcterms:created xsi:type="dcterms:W3CDTF">2026-09-16T19:39:48Z</dcterms:created>
  <dcterms:modified xsi:type="dcterms:W3CDTF">2026-09-16T19:39:48Z</dcterms:modified>
</cp:coreProperties>
</file>